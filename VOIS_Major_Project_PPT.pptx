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8" d="100"/>
          <a:sy n="88" d="100"/>
        </p:scale>
        <p:origin x="370" y="3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6" y="3588198"/>
            <a:ext cx="6952891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 smtClean="0">
                <a:solidFill>
                  <a:schemeClr val="tx1"/>
                </a:solidFill>
              </a:rPr>
              <a:t>Student Name : </a:t>
            </a:r>
            <a:r>
              <a:rPr lang="en-US" dirty="0"/>
              <a:t>Samyak </a:t>
            </a:r>
            <a:r>
              <a:rPr lang="en-US" dirty="0" smtClean="0"/>
              <a:t>Jain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</a:t>
            </a:r>
            <a:r>
              <a:rPr lang="en-US" b="0" dirty="0" smtClean="0">
                <a:solidFill>
                  <a:schemeClr val="tx1"/>
                </a:solidFill>
              </a:rPr>
              <a:t>Name : </a:t>
            </a:r>
            <a:r>
              <a:rPr lang="en-US" dirty="0"/>
              <a:t>Delhi Technological University (DTU)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733719" cy="743448"/>
          </a:xfrm>
        </p:spPr>
        <p:txBody>
          <a:bodyPr>
            <a:normAutofit/>
          </a:bodyPr>
          <a:lstStyle/>
          <a:p>
            <a:r>
              <a:rPr lang="en-GB" sz="2600" b="1" u="sng" dirty="0"/>
              <a:t>Project Title</a:t>
            </a:r>
            <a:r>
              <a:rPr lang="en-GB" sz="2600" b="1" dirty="0"/>
              <a:t> </a:t>
            </a:r>
            <a:r>
              <a:rPr lang="en-GB" sz="2600" b="1" dirty="0" smtClean="0"/>
              <a:t>- </a:t>
            </a:r>
            <a:r>
              <a:rPr lang="en-US" sz="2600" b="1" u="sng" dirty="0"/>
              <a:t>Seasonal Agriculture Performance Analysis</a:t>
            </a:r>
            <a:endParaRPr lang="en-IN" sz="2600" b="1" u="sng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506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</a:t>
            </a:r>
            <a:r>
              <a:rPr lang="en-US" b="1" dirty="0" smtClean="0"/>
              <a:t>: </a:t>
            </a:r>
            <a:r>
              <a:rPr lang="en-US" dirty="0" smtClean="0"/>
              <a:t>STU6a6cdf370fb751785519927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875556"/>
            <a:ext cx="6458501" cy="376611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Core Challenge:</a:t>
            </a:r>
            <a:r>
              <a:rPr lang="en-US" sz="2800" dirty="0"/>
              <a:t> Agricultural productivity, input efficacy, and farm profitability experience significant shifts due to seasonal environmental swings</a:t>
            </a:r>
            <a:r>
              <a:rPr lang="en-US" sz="28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Research Focus:</a:t>
            </a:r>
            <a:r>
              <a:rPr lang="en-US" sz="2800" dirty="0"/>
              <a:t> Identify seasonal variations, explore trends across </a:t>
            </a:r>
            <a:r>
              <a:rPr lang="en-US" sz="2800" dirty="0" err="1"/>
              <a:t>Kharif</a:t>
            </a:r>
            <a:r>
              <a:rPr lang="en-US" sz="2800" dirty="0"/>
              <a:t>, Rabi, and Zaid seasons, and examine the impact of resource utilization on harvest outcomes.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</a:t>
            </a:r>
            <a:r>
              <a:rPr lang="en-GB" dirty="0" smtClean="0"/>
              <a:t>Description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2140276"/>
            <a:ext cx="6458501" cy="37661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Analytical Scope:</a:t>
            </a:r>
            <a:r>
              <a:rPr lang="en-US" sz="2800" dirty="0"/>
              <a:t> Statistical analysis and exploratory data visualization of 4,000 farm records across diverse districts and farming setups</a:t>
            </a:r>
            <a:r>
              <a:rPr lang="en-US" sz="28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Methodology:</a:t>
            </a:r>
            <a:r>
              <a:rPr lang="en-US" sz="2800" dirty="0"/>
              <a:t> Data cleaning with group median imputation, multivariate correlation analysis, resource efficiency assessment, and economic viability benchmarking across cropping cycles.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061713"/>
            <a:ext cx="8198354" cy="470139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Farmers &amp; Farmer Producer Organizations (FPOs):</a:t>
            </a:r>
            <a:r>
              <a:rPr lang="en-US" dirty="0"/>
              <a:t> For choosing suitable crops and allocating fertilizer and irrigation budgets effectively by season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Agronomists &amp; Policy Planners:</a:t>
            </a:r>
            <a:r>
              <a:rPr lang="en-US" dirty="0"/>
              <a:t> For setting regional irrigation priorities and formulating targeted fertilizer subsidy interventions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Credit &amp; Insurance Providers:</a:t>
            </a:r>
            <a:r>
              <a:rPr lang="en-US" dirty="0"/>
              <a:t> For designing seasonal underwriting models and identifying climate-related risks.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b="1" dirty="0"/>
              <a:t>Language &amp; Runtime:</a:t>
            </a:r>
            <a:r>
              <a:rPr lang="en-US" dirty="0"/>
              <a:t> Python 3 on Google </a:t>
            </a:r>
            <a:r>
              <a:rPr lang="en-US" dirty="0" err="1" smtClean="0"/>
              <a:t>Colab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b="1" dirty="0"/>
              <a:t>Data Processing:</a:t>
            </a:r>
            <a:r>
              <a:rPr lang="en-US" dirty="0"/>
              <a:t> Pandas, </a:t>
            </a:r>
            <a:r>
              <a:rPr lang="en-US" dirty="0" err="1" smtClean="0"/>
              <a:t>NumPy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b="1" dirty="0"/>
              <a:t>Data Visualization:</a:t>
            </a:r>
            <a:r>
              <a:rPr lang="en-US" dirty="0"/>
              <a:t> </a:t>
            </a:r>
            <a:r>
              <a:rPr lang="en-US" dirty="0" err="1"/>
              <a:t>Matplotlib</a:t>
            </a:r>
            <a:r>
              <a:rPr lang="en-US" dirty="0"/>
              <a:t>, </a:t>
            </a:r>
            <a:r>
              <a:rPr lang="en-US" dirty="0" err="1" smtClean="0"/>
              <a:t>Seaborn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b="1" dirty="0"/>
              <a:t>Presentation &amp; Documentation:</a:t>
            </a:r>
            <a:r>
              <a:rPr lang="en-US" dirty="0"/>
              <a:t> Microsoft PowerPoint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70589"/>
            <a:ext cx="9917032" cy="830997"/>
          </a:xfrm>
        </p:spPr>
        <p:txBody>
          <a:bodyPr>
            <a:normAutofit/>
          </a:bodyPr>
          <a:lstStyle/>
          <a:p>
            <a:r>
              <a:rPr lang="en-US" sz="4000" u="sng" dirty="0"/>
              <a:t>Results – Seasonal Crop Yield Trends</a:t>
            </a:r>
            <a:endParaRPr lang="en-IN" sz="40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220050" cy="15419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sz="1600" dirty="0" err="1" smtClean="0"/>
              <a:t>Kharif</a:t>
            </a:r>
            <a:r>
              <a:rPr lang="en-US" sz="1600" dirty="0" smtClean="0"/>
              <a:t> </a:t>
            </a:r>
            <a:r>
              <a:rPr lang="en-US" sz="1600" dirty="0"/>
              <a:t>delivers the highest mean yield at </a:t>
            </a:r>
            <a:r>
              <a:rPr lang="en-US" sz="1600" b="1" dirty="0"/>
              <a:t>5.63 </a:t>
            </a:r>
            <a:r>
              <a:rPr lang="en-US" sz="1600" b="1" dirty="0" err="1"/>
              <a:t>tonnes</a:t>
            </a:r>
            <a:r>
              <a:rPr lang="en-US" sz="1600" b="1" dirty="0"/>
              <a:t>/ha</a:t>
            </a:r>
            <a:r>
              <a:rPr lang="en-US" sz="1600" dirty="0"/>
              <a:t>, supported by seasonal monsoon moisture</a:t>
            </a:r>
            <a:r>
              <a:rPr lang="en-US" sz="16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Rabi follows at </a:t>
            </a:r>
            <a:r>
              <a:rPr lang="en-US" sz="1600" b="1" dirty="0"/>
              <a:t>5.09 </a:t>
            </a:r>
            <a:r>
              <a:rPr lang="en-US" sz="1600" b="1" dirty="0" err="1"/>
              <a:t>tonnes</a:t>
            </a:r>
            <a:r>
              <a:rPr lang="en-US" sz="1600" b="1" dirty="0"/>
              <a:t>/ha</a:t>
            </a:r>
            <a:r>
              <a:rPr lang="en-US" sz="1600" dirty="0"/>
              <a:t>, while Zaid drops to </a:t>
            </a:r>
            <a:r>
              <a:rPr lang="en-US" sz="1600" b="1" dirty="0"/>
              <a:t>4.64 </a:t>
            </a:r>
            <a:r>
              <a:rPr lang="en-US" sz="1600" b="1" dirty="0" err="1"/>
              <a:t>tonnes</a:t>
            </a:r>
            <a:r>
              <a:rPr lang="en-US" sz="1600" b="1" dirty="0"/>
              <a:t>/ha</a:t>
            </a:r>
            <a:r>
              <a:rPr lang="en-US" sz="1600" dirty="0"/>
              <a:t> due to higher heat and reduced water retention.</a:t>
            </a:r>
            <a:endParaRPr lang="en-US" sz="16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201586"/>
            <a:ext cx="5210111" cy="29772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4167562"/>
            <a:ext cx="4975025" cy="112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70589"/>
            <a:ext cx="9917032" cy="830997"/>
          </a:xfrm>
        </p:spPr>
        <p:txBody>
          <a:bodyPr>
            <a:normAutofit fontScale="90000"/>
          </a:bodyPr>
          <a:lstStyle/>
          <a:p>
            <a:r>
              <a:rPr lang="en-US" sz="4000" u="sng" dirty="0"/>
              <a:t>Results – Economic Profitability by Season</a:t>
            </a:r>
            <a:endParaRPr lang="en-IN" sz="40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220050" cy="154196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dirty="0" err="1"/>
              <a:t>Kharif</a:t>
            </a:r>
            <a:r>
              <a:rPr lang="en-US" dirty="0"/>
              <a:t> achieves the strongest profitability, averaging </a:t>
            </a:r>
            <a:r>
              <a:rPr lang="en-US" b="1" dirty="0"/>
              <a:t>₹1,78,915 net profit</a:t>
            </a:r>
            <a:r>
              <a:rPr lang="en-US" dirty="0"/>
              <a:t> per </a:t>
            </a:r>
            <a:r>
              <a:rPr lang="en-US" dirty="0" smtClean="0"/>
              <a:t>farm.</a:t>
            </a:r>
          </a:p>
          <a:p>
            <a:pPr>
              <a:lnSpc>
                <a:spcPct val="100000"/>
              </a:lnSpc>
            </a:pPr>
            <a:r>
              <a:rPr lang="en-US" dirty="0"/>
              <a:t>Rabi records a moderate average profit of </a:t>
            </a:r>
            <a:r>
              <a:rPr lang="en-US" b="1" dirty="0"/>
              <a:t>₹87,689</a:t>
            </a:r>
            <a:r>
              <a:rPr lang="en-US" dirty="0"/>
              <a:t>, whereas Zaid registers an average loss of </a:t>
            </a:r>
            <a:r>
              <a:rPr lang="en-US" b="1" dirty="0"/>
              <a:t>-₹24,805</a:t>
            </a:r>
            <a:r>
              <a:rPr lang="en-US" dirty="0"/>
              <a:t> driven by high input and supplementary irrigation </a:t>
            </a:r>
            <a:r>
              <a:rPr lang="en-US" dirty="0" smtClean="0"/>
              <a:t>expenses.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4" y="1122250"/>
            <a:ext cx="5210111" cy="29772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34" y="4128574"/>
            <a:ext cx="5982218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4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70589"/>
            <a:ext cx="9917032" cy="830997"/>
          </a:xfrm>
        </p:spPr>
        <p:txBody>
          <a:bodyPr>
            <a:normAutofit fontScale="90000"/>
          </a:bodyPr>
          <a:lstStyle/>
          <a:p>
            <a:r>
              <a:rPr lang="en-US" sz="3600" u="sng" dirty="0"/>
              <a:t>Results – Water Efficiency &amp; Irrigation Systems</a:t>
            </a:r>
            <a:endParaRPr lang="en-IN" sz="40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572500" cy="15419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dirty="0"/>
              <a:t>Drip irrigation yields the most stable output across seasons with high water-use efficiency.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/>
              <a:t>Traditional flood irrigation shows the lowest efficiency (</a:t>
            </a:r>
            <a:r>
              <a:rPr lang="en-US" b="1" dirty="0"/>
              <a:t>3.44 t/1000m³</a:t>
            </a:r>
            <a:r>
              <a:rPr lang="en-US" dirty="0"/>
              <a:t>), indicating high water loss through runoff and evaporation.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5" y="1122250"/>
            <a:ext cx="5210109" cy="29772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34" y="4072098"/>
            <a:ext cx="7483488" cy="11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8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70589"/>
            <a:ext cx="9917032" cy="830997"/>
          </a:xfrm>
        </p:spPr>
        <p:txBody>
          <a:bodyPr>
            <a:normAutofit/>
          </a:bodyPr>
          <a:lstStyle/>
          <a:p>
            <a:r>
              <a:rPr lang="en-US" sz="3200" u="sng" dirty="0"/>
              <a:t>Results – Environmental &amp; Economic </a:t>
            </a:r>
            <a:r>
              <a:rPr lang="en-US" sz="3200" u="sng" dirty="0" err="1"/>
              <a:t>Heatmap</a:t>
            </a:r>
            <a:endParaRPr lang="en-IN" sz="40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572500" cy="15419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dirty="0"/>
              <a:t>Soil moisture and fertilizer application rates correlate positively with final crop yield.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/>
              <a:t>Extreme temperatures and water stress correlate with reduced net margins, particularly outside the monsoon period.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5" y="909119"/>
            <a:ext cx="4191864" cy="316297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1" y="4072098"/>
            <a:ext cx="8367485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70589"/>
            <a:ext cx="7835939" cy="830997"/>
          </a:xfrm>
        </p:spPr>
        <p:txBody>
          <a:bodyPr>
            <a:normAutofit/>
          </a:bodyPr>
          <a:lstStyle/>
          <a:p>
            <a:r>
              <a:rPr lang="en-US" sz="3200" u="sng" dirty="0"/>
              <a:t>Results – Crop Performance </a:t>
            </a:r>
            <a:r>
              <a:rPr lang="en-US" sz="3200" u="sng" dirty="0" smtClean="0"/>
              <a:t>Comparison</a:t>
            </a:r>
            <a:endParaRPr lang="en-IN" sz="40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572500" cy="15419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dirty="0"/>
              <a:t>Cash crops like Sugarcane show consistent volume differences across seasons (53.5 t/ha in </a:t>
            </a:r>
            <a:r>
              <a:rPr lang="en-US" dirty="0" err="1"/>
              <a:t>Kharif</a:t>
            </a:r>
            <a:r>
              <a:rPr lang="en-US" dirty="0"/>
              <a:t> vs. 38.4 t/ha in Zaid).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/>
              <a:t>Grains and pulses (Rice, Maize, Pulses) maintain peak productivity during </a:t>
            </a:r>
            <a:r>
              <a:rPr lang="en-US" dirty="0" err="1"/>
              <a:t>Kharif</a:t>
            </a:r>
            <a:r>
              <a:rPr lang="en-US" dirty="0"/>
              <a:t> and Rabi cycles.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5" y="1043796"/>
            <a:ext cx="5739167" cy="28695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35" y="4073462"/>
            <a:ext cx="6873836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0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70589"/>
            <a:ext cx="8692388" cy="835241"/>
          </a:xfrm>
        </p:spPr>
        <p:txBody>
          <a:bodyPr>
            <a:noAutofit/>
          </a:bodyPr>
          <a:lstStyle/>
          <a:p>
            <a:r>
              <a:rPr lang="en-US" sz="3200" u="sng" dirty="0" smtClean="0"/>
              <a:t>Results – Temperature &amp; Pest Risk Dynamics</a:t>
            </a:r>
            <a:endParaRPr lang="en-IN" sz="32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572500" cy="15419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dirty="0"/>
              <a:t>Disease and pest risk is highest during the high-humidity </a:t>
            </a:r>
            <a:r>
              <a:rPr lang="en-US" dirty="0" err="1"/>
              <a:t>Kharif</a:t>
            </a:r>
            <a:r>
              <a:rPr lang="en-US" dirty="0"/>
              <a:t> season (averaging </a:t>
            </a:r>
            <a:r>
              <a:rPr lang="en-US" b="1" dirty="0"/>
              <a:t>54.5%</a:t>
            </a:r>
            <a:r>
              <a:rPr lang="en-US" dirty="0"/>
              <a:t>).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/>
              <a:t>Rabi and Zaid exhibit lower average pest risks (</a:t>
            </a:r>
            <a:r>
              <a:rPr lang="en-US" b="1" dirty="0"/>
              <a:t>40.5%</a:t>
            </a:r>
            <a:r>
              <a:rPr lang="en-US" dirty="0"/>
              <a:t> and </a:t>
            </a:r>
            <a:r>
              <a:rPr lang="en-US" b="1" dirty="0"/>
              <a:t>38.2%</a:t>
            </a:r>
            <a:r>
              <a:rPr lang="en-US" dirty="0"/>
              <a:t>), but require targeted pesticide management during localized heat spikes.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33" y="1043796"/>
            <a:ext cx="5021770" cy="28695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35" y="4017997"/>
            <a:ext cx="7178662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9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70589"/>
            <a:ext cx="9443503" cy="835241"/>
          </a:xfrm>
        </p:spPr>
        <p:txBody>
          <a:bodyPr>
            <a:noAutofit/>
          </a:bodyPr>
          <a:lstStyle/>
          <a:p>
            <a:r>
              <a:rPr lang="en-US" sz="3200" u="sng" dirty="0" smtClean="0"/>
              <a:t>Results </a:t>
            </a:r>
            <a:r>
              <a:rPr lang="en-US" sz="3200" u="sng" dirty="0"/>
              <a:t>– Production Cost vs. Net Profit</a:t>
            </a:r>
            <a:endParaRPr lang="en-IN" sz="32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871" y="5316033"/>
            <a:ext cx="8572500" cy="15419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Key Observations:</a:t>
            </a:r>
            <a:endParaRPr lang="en-US" b="1" u="sng" dirty="0" smtClean="0"/>
          </a:p>
          <a:p>
            <a:pPr>
              <a:lnSpc>
                <a:spcPct val="100000"/>
              </a:lnSpc>
            </a:pPr>
            <a:r>
              <a:rPr lang="en-US" dirty="0"/>
              <a:t>Higher production expenditure does not ensure proportional net profit gains across all seasons.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/>
              <a:t>High-cost Zaid farming often yields lower margins, emphasizing the need for cost-efficient input budgeting.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33" y="1043796"/>
            <a:ext cx="5021770" cy="28695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4040859"/>
            <a:ext cx="6492803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2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70589"/>
            <a:ext cx="9443503" cy="835241"/>
          </a:xfrm>
        </p:spPr>
        <p:txBody>
          <a:bodyPr>
            <a:noAutofit/>
          </a:bodyPr>
          <a:lstStyle/>
          <a:p>
            <a:r>
              <a:rPr lang="en-US" sz="3200" u="sng" dirty="0"/>
              <a:t>Results – </a:t>
            </a:r>
            <a:r>
              <a:rPr lang="en-US" sz="3200" u="sng" dirty="0" err="1"/>
              <a:t>Colab</a:t>
            </a:r>
            <a:r>
              <a:rPr lang="en-US" sz="3200" u="sng" dirty="0"/>
              <a:t> Code Screenshots</a:t>
            </a:r>
            <a:endParaRPr lang="en-IN" sz="3200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061041"/>
            <a:ext cx="6709546" cy="32175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4348154"/>
            <a:ext cx="6709546" cy="24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6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3" y="1201586"/>
            <a:ext cx="6373732" cy="52703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dirty="0" smtClean="0"/>
              <a:t>Predictive Yield Modeling:</a:t>
            </a:r>
            <a:r>
              <a:rPr lang="en-US" sz="2600" dirty="0" smtClean="0"/>
              <a:t> Developing ML algorithms (e.g., Random Forest, </a:t>
            </a:r>
            <a:r>
              <a:rPr lang="en-US" sz="2600" dirty="0" err="1" smtClean="0"/>
              <a:t>XGBoost</a:t>
            </a:r>
            <a:r>
              <a:rPr lang="en-US" sz="2600" dirty="0" smtClean="0"/>
              <a:t>) to forecast crop output before planting.</a:t>
            </a:r>
          </a:p>
          <a:p>
            <a:pPr>
              <a:lnSpc>
                <a:spcPct val="100000"/>
              </a:lnSpc>
            </a:pPr>
            <a:r>
              <a:rPr lang="en-US" sz="2600" b="1" dirty="0" err="1" smtClean="0"/>
              <a:t>IoT</a:t>
            </a:r>
            <a:r>
              <a:rPr lang="en-US" sz="2600" b="1" dirty="0" smtClean="0"/>
              <a:t> Weather Integration:</a:t>
            </a:r>
            <a:r>
              <a:rPr lang="en-US" sz="2600" dirty="0" smtClean="0"/>
              <a:t> Combining real-time automated soil-moisture telemetry with targeted irrigation alerts.</a:t>
            </a:r>
          </a:p>
          <a:p>
            <a:pPr>
              <a:lnSpc>
                <a:spcPct val="100000"/>
              </a:lnSpc>
            </a:pPr>
            <a:r>
              <a:rPr lang="en-US" sz="2600" b="1" dirty="0" smtClean="0"/>
              <a:t>Precision </a:t>
            </a:r>
            <a:r>
              <a:rPr lang="en-US" sz="2600" b="1" dirty="0"/>
              <a:t>Nutrient Delivery:</a:t>
            </a:r>
            <a:r>
              <a:rPr lang="en-US" sz="2600" dirty="0"/>
              <a:t> Building algorithmic fertilizer blend recommendations based on soil pH and crop type.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u="sng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0B37E4-66B1-8633-7266-68B321742757}"/>
              </a:ext>
            </a:extLst>
          </p:cNvPr>
          <p:cNvSpPr txBox="1"/>
          <p:nvPr/>
        </p:nvSpPr>
        <p:spPr>
          <a:xfrm>
            <a:off x="729257" y="2640268"/>
            <a:ext cx="5792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https://github.com/samyakjain790-max/Seasonal-Agriculture-Performance-Analysis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5696" y="3883519"/>
            <a:ext cx="6373732" cy="10067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 smtClean="0"/>
              <a:t>Contents Included : </a:t>
            </a:r>
            <a:r>
              <a:rPr lang="en-US" sz="1800" dirty="0" err="1"/>
              <a:t>Colab</a:t>
            </a:r>
            <a:r>
              <a:rPr lang="en-US" sz="1800" dirty="0"/>
              <a:t> </a:t>
            </a:r>
            <a:r>
              <a:rPr lang="en-US" sz="1800" dirty="0" smtClean="0"/>
              <a:t>notebook (.</a:t>
            </a:r>
            <a:r>
              <a:rPr lang="en-US" sz="1800" dirty="0" err="1" smtClean="0"/>
              <a:t>ipynb</a:t>
            </a:r>
            <a:r>
              <a:rPr lang="en-US" sz="1800" dirty="0"/>
              <a:t>), cleaned dataset</a:t>
            </a:r>
            <a:r>
              <a:rPr lang="en-US" sz="1800" dirty="0" smtClean="0"/>
              <a:t>, Presentation PPT </a:t>
            </a:r>
            <a:r>
              <a:rPr lang="en-US" sz="1800" dirty="0"/>
              <a:t>and generated visual </a:t>
            </a:r>
            <a:r>
              <a:rPr lang="en-US" sz="1800" dirty="0" smtClean="0"/>
              <a:t>plots.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38" y="1414733"/>
            <a:ext cx="7297134" cy="51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u="sng" dirty="0" smtClean="0">
                <a:solidFill>
                  <a:schemeClr val="tx1"/>
                </a:solidFill>
              </a:rPr>
              <a:t>THANK YOU</a:t>
            </a:r>
            <a:endParaRPr lang="en-US" sz="4800" b="1" u="sng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5598333"/>
            <a:ext cx="4003757" cy="1066627"/>
          </a:xfrm>
        </p:spPr>
        <p:txBody>
          <a:bodyPr>
            <a:normAutofit/>
          </a:bodyPr>
          <a:lstStyle/>
          <a:p>
            <a:pPr algn="l"/>
            <a:r>
              <a:rPr lang="en-IN" dirty="0" smtClean="0"/>
              <a:t>Samyak Jain</a:t>
            </a:r>
          </a:p>
          <a:p>
            <a:pPr algn="l"/>
            <a:r>
              <a:rPr lang="en-US" dirty="0"/>
              <a:t>STU6a6cdf370fb751785519927</a:t>
            </a:r>
          </a:p>
          <a:p>
            <a:pPr algn="l"/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1415</TotalTime>
  <Words>631</Words>
  <Application>Microsoft Office PowerPoint</Application>
  <PresentationFormat>Widescreen</PresentationFormat>
  <Paragraphs>62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</vt:lpstr>
      <vt:lpstr>WHO ARE THE END USERS?</vt:lpstr>
      <vt:lpstr>Technology Used</vt:lpstr>
      <vt:lpstr>Results – Seasonal Crop Yield Trends</vt:lpstr>
      <vt:lpstr>Results – Economic Profitability by Season</vt:lpstr>
      <vt:lpstr>Results – Water Efficiency &amp; Irrigation Systems</vt:lpstr>
      <vt:lpstr>Results – Environmental &amp; Economic Heatmap</vt:lpstr>
      <vt:lpstr>Results – Crop Performance Comparison</vt:lpstr>
      <vt:lpstr>Results – Temperature &amp; Pest Risk Dynamics</vt:lpstr>
      <vt:lpstr>Results – Production Cost vs. Net Profit</vt:lpstr>
      <vt:lpstr>Results – Colab Code Screenshots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Microsoft account</cp:lastModifiedBy>
  <cp:revision>104</cp:revision>
  <dcterms:created xsi:type="dcterms:W3CDTF">2021-07-11T13:13:15Z</dcterms:created>
  <dcterms:modified xsi:type="dcterms:W3CDTF">2026-09-15T18:07:04Z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